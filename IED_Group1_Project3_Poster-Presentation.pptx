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61" r:id="rId6"/>
    <p:sldId id="260" r:id="rId7"/>
    <p:sldId id="258" r:id="rId8"/>
    <p:sldId id="262" r:id="rId9"/>
    <p:sldId id="259" r:id="rId10"/>
    <p:sldId id="263" r:id="rId11"/>
  </p:sldIdLst>
  <p:sldSz cx="43891200" cy="329184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49C"/>
    <a:srgbClr val="003399"/>
    <a:srgbClr val="00B0EA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FCCBD-0A9E-423E-AE48-0AF4CE40B882}" v="469" dt="2025-02-11T14:29:53.966"/>
    <p1510:client id="{699B6321-1ADA-4B23-9F2A-C2AEF8A45F17}" v="39" dt="2025-02-12T00:31:56.698"/>
    <p1510:client id="{CC1B0FA8-13B6-CADC-3F52-5F42D480B196}" v="14" dt="2025-02-11T19:48:50.874"/>
    <p1510:client id="{E4F74712-FF4A-9AC1-117F-B80EC1947A65}" v="7" dt="2025-02-11T23:46:28.60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8" autoAdjust="0"/>
    <p:restoredTop sz="94632" autoAdjust="0"/>
  </p:normalViewPr>
  <p:slideViewPr>
    <p:cSldViewPr snapToGrid="0">
      <p:cViewPr varScale="1">
        <p:scale>
          <a:sx n="16" d="100"/>
          <a:sy n="16" d="100"/>
        </p:scale>
        <p:origin x="1571" y="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2796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0B079-A316-4C9B-B165-DF9EA8325D2C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0EAE6-B4B6-49B7-9049-B371250BE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6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F28AB8-57D1-494F-9851-055AD867E79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C7F044-5458-4B2E-BFA0-52AAA1C52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08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05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BBD6-AA98-7376-6BE5-F6B629C7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073D3-F989-92FC-E6C4-08C4A5E0C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916A02-E054-8AF8-9213-2FD2C5EC6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640A9-4B08-1CE5-C4C6-DC0342FDB0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45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0DEC-6B63-2730-332B-1FF130D2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EE579-0C26-364D-ACF8-093423160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54AFD-26A2-1577-B1AA-495705130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BBC37-CC5E-C409-086B-6A8F71E1BF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174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662B-8331-FF7B-C15E-CCF7F8ECE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C2D0E-2028-A900-9669-C1FC88939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1CD769-377B-01D4-B0FB-E2A10C255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02195-C276-E180-3AC1-806AEA854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59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831C-8C92-63E3-8421-3FB19687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EC4394-1FBB-4832-E40F-397269136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7B024-C1BA-8708-872D-64C4DB1E6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4DA32-F57A-4A4D-E08C-AA170B8D3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15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12C25-B745-6A8E-C697-15FB9164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EB107-3F98-3102-A0ED-398049B26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1A4B5-A736-73AE-E890-D892F7572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C7A05-53CA-8A04-C549-756C8437B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28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A39E-EA73-FD61-A953-0DDD0DEA7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FE689-4568-5D8F-8919-20985CCD5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6D739-A219-48F2-0901-AEB574A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4A9B-9758-ED13-B3E9-395BA0904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C7F044-5458-4B2E-BFA0-52AAA1C529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34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158240" y="685860"/>
            <a:ext cx="30175200" cy="297174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36"/>
          </p:nvPr>
        </p:nvSpPr>
        <p:spPr bwMode="auto">
          <a:xfrm>
            <a:off x="1158240" y="4093905"/>
            <a:ext cx="30174412" cy="6463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3600">
                <a:solidFill>
                  <a:schemeClr val="bg1">
                    <a:lumMod val="75000"/>
                  </a:schemeClr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1143000" y="5669280"/>
            <a:ext cx="12801600" cy="128016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9" hasCustomPrompt="1"/>
          </p:nvPr>
        </p:nvSpPr>
        <p:spPr bwMode="ltGray">
          <a:xfrm>
            <a:off x="1143000" y="7114032"/>
            <a:ext cx="12801600" cy="273257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lIns="365760" rIns="365760" anchor="ctr">
            <a:noAutofit/>
          </a:bodyPr>
          <a:lstStyle>
            <a:lvl1pPr marL="0" indent="0">
              <a:spcBef>
                <a:spcPts val="1200"/>
              </a:spcBef>
              <a:buFont typeface="Arial" panose="020B0604020202020204" pitchFamily="34" charset="0"/>
              <a:buNone/>
              <a:defRPr sz="4400" baseline="0"/>
            </a:lvl1pPr>
            <a:lvl2pPr marL="571500" indent="-571500">
              <a:spcBef>
                <a:spcPts val="1200"/>
              </a:spcBef>
              <a:buFont typeface="Arial" panose="020B0604020202020204" pitchFamily="34" charset="0"/>
              <a:buChar char="•"/>
              <a:defRPr sz="4400"/>
            </a:lvl2pPr>
            <a:lvl3pPr marL="571500" indent="-571500">
              <a:spcBef>
                <a:spcPts val="1200"/>
              </a:spcBef>
              <a:buFont typeface="Arial" panose="020B0604020202020204" pitchFamily="34" charset="0"/>
              <a:buChar char="•"/>
              <a:defRPr sz="4400"/>
            </a:lvl3pPr>
            <a:lvl4pPr marL="0" indent="0">
              <a:spcBef>
                <a:spcPts val="1200"/>
              </a:spcBef>
              <a:buNone/>
              <a:defRPr sz="4400"/>
            </a:lvl4pPr>
            <a:lvl5pPr marL="0" indent="0">
              <a:spcBef>
                <a:spcPts val="1200"/>
              </a:spcBef>
              <a:buNone/>
              <a:defRPr sz="4400"/>
            </a:lvl5pPr>
            <a:lvl6pPr marL="0" indent="0">
              <a:spcBef>
                <a:spcPts val="1200"/>
              </a:spcBef>
              <a:buNone/>
              <a:defRPr sz="4400"/>
            </a:lvl6pPr>
            <a:lvl7pPr marL="0" indent="0">
              <a:spcBef>
                <a:spcPts val="1200"/>
              </a:spcBef>
              <a:buNone/>
              <a:defRPr sz="4400"/>
            </a:lvl7pPr>
            <a:lvl8pPr marL="0" indent="0">
              <a:spcBef>
                <a:spcPts val="1200"/>
              </a:spcBef>
              <a:buNone/>
              <a:defRPr sz="4400"/>
            </a:lvl8pPr>
            <a:lvl9pPr marL="0" indent="0">
              <a:spcBef>
                <a:spcPts val="1200"/>
              </a:spcBef>
              <a:buNone/>
              <a:defRPr sz="4400"/>
            </a:lvl9pPr>
          </a:lstStyle>
          <a:p>
            <a:pPr lvl="0"/>
            <a:r>
              <a:rPr lang="en-US" dirty="0"/>
              <a:t>Add your question or a statement of the problem here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37" hasCustomPrompt="1"/>
          </p:nvPr>
        </p:nvSpPr>
        <p:spPr>
          <a:xfrm>
            <a:off x="1143000" y="10497312"/>
            <a:ext cx="12801600" cy="128016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7" name="Content Placeholder 17"/>
          <p:cNvSpPr>
            <a:spLocks noGrp="1"/>
          </p:cNvSpPr>
          <p:nvPr>
            <p:ph sz="quarter" idx="38" hasCustomPrompt="1"/>
          </p:nvPr>
        </p:nvSpPr>
        <p:spPr>
          <a:xfrm>
            <a:off x="1143000" y="11868912"/>
            <a:ext cx="12801600" cy="2807506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143000" y="1495044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0" name="Content Placeholder 17"/>
          <p:cNvSpPr>
            <a:spLocks noGrp="1"/>
          </p:cNvSpPr>
          <p:nvPr>
            <p:ph sz="quarter" idx="25" hasCustomPrompt="1"/>
          </p:nvPr>
        </p:nvSpPr>
        <p:spPr>
          <a:xfrm>
            <a:off x="1143000" y="16440912"/>
            <a:ext cx="12801600" cy="6027461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1143000" y="2288743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1" name="Content Placeholder 17"/>
          <p:cNvSpPr>
            <a:spLocks noGrp="1"/>
          </p:cNvSpPr>
          <p:nvPr>
            <p:ph sz="quarter" idx="26" hasCustomPrompt="1"/>
          </p:nvPr>
        </p:nvSpPr>
        <p:spPr>
          <a:xfrm>
            <a:off x="1143000" y="24332184"/>
            <a:ext cx="12801600" cy="7296912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15544800" y="566928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2" name="Content Placeholder 17"/>
          <p:cNvSpPr>
            <a:spLocks noGrp="1"/>
          </p:cNvSpPr>
          <p:nvPr>
            <p:ph sz="quarter" idx="27" hasCustomPrompt="1"/>
          </p:nvPr>
        </p:nvSpPr>
        <p:spPr>
          <a:xfrm>
            <a:off x="15544800" y="7114032"/>
            <a:ext cx="12801600" cy="6795556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40" hasCustomPrompt="1"/>
          </p:nvPr>
        </p:nvSpPr>
        <p:spPr>
          <a:xfrm>
            <a:off x="15544800" y="14328648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23" hasCustomPrompt="1"/>
          </p:nvPr>
        </p:nvSpPr>
        <p:spPr>
          <a:xfrm>
            <a:off x="15544800" y="15773399"/>
            <a:ext cx="12801600" cy="6694973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15544800" y="2288743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5" name="Content Placeholder 17"/>
          <p:cNvSpPr>
            <a:spLocks noGrp="1"/>
          </p:cNvSpPr>
          <p:nvPr>
            <p:ph sz="quarter" idx="30" hasCustomPrompt="1"/>
          </p:nvPr>
        </p:nvSpPr>
        <p:spPr>
          <a:xfrm>
            <a:off x="15544800" y="24332184"/>
            <a:ext cx="12801600" cy="7296912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31" hasCustomPrompt="1"/>
          </p:nvPr>
        </p:nvSpPr>
        <p:spPr>
          <a:xfrm>
            <a:off x="29900880" y="5669280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27" name="Content Placeholder 17"/>
          <p:cNvSpPr>
            <a:spLocks noGrp="1"/>
          </p:cNvSpPr>
          <p:nvPr>
            <p:ph sz="quarter" idx="32" hasCustomPrompt="1"/>
          </p:nvPr>
        </p:nvSpPr>
        <p:spPr>
          <a:xfrm>
            <a:off x="29900880" y="7114032"/>
            <a:ext cx="12801600" cy="7315200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28" name="Content Placeholder 17"/>
          <p:cNvSpPr>
            <a:spLocks noGrp="1"/>
          </p:cNvSpPr>
          <p:nvPr>
            <p:ph sz="quarter" idx="33" hasCustomPrompt="1"/>
          </p:nvPr>
        </p:nvSpPr>
        <p:spPr>
          <a:xfrm>
            <a:off x="29900880" y="14914834"/>
            <a:ext cx="12801600" cy="4538610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41" hasCustomPrompt="1"/>
          </p:nvPr>
        </p:nvSpPr>
        <p:spPr>
          <a:xfrm>
            <a:off x="29900880" y="19767596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40" name="Content Placeholder 17"/>
          <p:cNvSpPr>
            <a:spLocks noGrp="1"/>
          </p:cNvSpPr>
          <p:nvPr>
            <p:ph sz="quarter" idx="42" hasCustomPrompt="1"/>
          </p:nvPr>
        </p:nvSpPr>
        <p:spPr>
          <a:xfrm>
            <a:off x="29900880" y="21212348"/>
            <a:ext cx="12801600" cy="4344786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4" hasCustomPrompt="1"/>
          </p:nvPr>
        </p:nvSpPr>
        <p:spPr>
          <a:xfrm>
            <a:off x="29900880" y="25722072"/>
            <a:ext cx="12801600" cy="1219200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540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3pPr>
            <a:lvl4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4pPr>
            <a:lvl5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5pPr>
            <a:lvl6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6pPr>
            <a:lvl7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7pPr>
            <a:lvl8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8pPr>
            <a:lvl9pPr marL="0" indent="0">
              <a:spcBef>
                <a:spcPts val="0"/>
              </a:spcBef>
              <a:buNone/>
              <a:defRPr sz="6000" cap="all" baseline="0">
                <a:solidFill>
                  <a:schemeClr val="bg1"/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30" name="Content Placeholder 17"/>
          <p:cNvSpPr>
            <a:spLocks noGrp="1"/>
          </p:cNvSpPr>
          <p:nvPr>
            <p:ph sz="quarter" idx="35" hasCustomPrompt="1"/>
          </p:nvPr>
        </p:nvSpPr>
        <p:spPr>
          <a:xfrm>
            <a:off x="29900880" y="27166824"/>
            <a:ext cx="12801600" cy="4462272"/>
          </a:xfrm>
          <a:prstGeom prst="rect">
            <a:avLst/>
          </a:prstGeom>
        </p:spPr>
        <p:txBody>
          <a:bodyPr lIns="91440" tIns="182880"/>
          <a:lstStyle>
            <a:lvl1pPr>
              <a:defRPr sz="3200" baseline="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 dirty="0"/>
              <a:t>Use this placeholder to add text or other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</p:spPr>
        <p:txBody>
          <a:bodyPr/>
          <a:lstStyle/>
          <a:p>
            <a:fld id="{ECAA57DF-1C19-4726-AB84-014692BAD8F5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4C631-C489-4C11-812F-2172FBEAE8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43"/>
          </p:nvPr>
        </p:nvSpPr>
        <p:spPr>
          <a:xfrm>
            <a:off x="32270700" y="0"/>
            <a:ext cx="11620500" cy="3842445"/>
          </a:xfrm>
          <a:prstGeom prst="rect">
            <a:avLst/>
          </a:prstGeom>
          <a:effectDag name="">
            <a:cont type="tree" name="">
              <a:effect ref="fillLine"/>
              <a:alphaMod>
                <a:cont name="">
                  <a:fill>
                    <a:gradFill>
                      <a:gsLst>
                        <a:gs pos="60000">
                          <a:srgbClr val="000000">
                            <a:alpha val="100000"/>
                          </a:srgbClr>
                        </a:gs>
                        <a:gs pos="97000">
                          <a:srgbClr val="000000">
                            <a:alpha val="0"/>
                          </a:srgbClr>
                        </a:gs>
                      </a:gsLst>
                      <a:lin ang="10800000"/>
                    </a:gradFill>
                  </a:fill>
                </a:cont>
              </a:alphaMod>
            </a:cont>
          </a:effectDag>
        </p:spPr>
        <p:txBody>
          <a:bodyPr lIns="91440" tIns="457200" rIns="9144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7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168" userDrawn="1">
          <p15:clr>
            <a:srgbClr val="A4A3A4"/>
          </p15:clr>
        </p15:guide>
        <p15:guide id="2" pos="18480" userDrawn="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ltGray">
          <a:xfrm>
            <a:off x="0" y="0"/>
            <a:ext cx="43891200" cy="5029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C631-C489-4C11-812F-2172FBEAE8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gray">
          <a:xfrm>
            <a:off x="0" y="3886200"/>
            <a:ext cx="43891200" cy="1143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3886200"/>
            <a:ext cx="43891200" cy="0"/>
          </a:xfrm>
          <a:prstGeom prst="line">
            <a:avLst/>
          </a:prstGeom>
          <a:ln w="114300"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SIPCMContentMarking" descr="{&quot;HashCode&quot;:-382682671,&quot;Placement&quot;:&quot;Header&quot;,&quot;Top&quot;:0.0,&quot;Left&quot;:1665.08691,&quot;SlideWidth&quot;:3456,&quot;SlideHeight&quot;:2592}"/>
          <p:cNvSpPr txBox="1"/>
          <p:nvPr userDrawn="1"/>
        </p:nvSpPr>
        <p:spPr>
          <a:xfrm>
            <a:off x="21146604" y="0"/>
            <a:ext cx="159799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</a:rPr>
              <a:t>Restricted, Non-Sensitive</a:t>
            </a:r>
            <a:endParaRPr lang="en-SG" sz="1000" dirty="0" err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84580" y="29636412"/>
            <a:ext cx="41605200" cy="3119074"/>
            <a:chOff x="1084580" y="24671487"/>
            <a:chExt cx="41605200" cy="3119074"/>
          </a:xfrm>
        </p:grpSpPr>
        <p:sp>
          <p:nvSpPr>
            <p:cNvPr id="12" name="Rectangle 11"/>
            <p:cNvSpPr/>
            <p:nvPr/>
          </p:nvSpPr>
          <p:spPr>
            <a:xfrm>
              <a:off x="1143000" y="24671487"/>
              <a:ext cx="41546780" cy="2824788"/>
            </a:xfrm>
            <a:prstGeom prst="rect">
              <a:avLst/>
            </a:prstGeom>
            <a:solidFill>
              <a:srgbClr val="595959"/>
            </a:solidFill>
            <a:ln>
              <a:solidFill>
                <a:srgbClr val="59595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6000" dirty="0" err="1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84580" y="27453917"/>
              <a:ext cx="41546780" cy="336644"/>
            </a:xfrm>
            <a:prstGeom prst="rect">
              <a:avLst/>
            </a:prstGeom>
            <a:solidFill>
              <a:srgbClr val="00B0EA"/>
            </a:solidFill>
            <a:ln>
              <a:solidFill>
                <a:srgbClr val="00B0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6000" dirty="0" err="1"/>
            </a:p>
          </p:txBody>
        </p:sp>
      </p:grp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2" t="24514" r="15030" b="23243"/>
          <a:stretch/>
        </p:blipFill>
        <p:spPr>
          <a:xfrm>
            <a:off x="34455100" y="30175200"/>
            <a:ext cx="7239000" cy="1625600"/>
          </a:xfrm>
          <a:prstGeom prst="rect">
            <a:avLst/>
          </a:prstGeom>
        </p:spPr>
      </p:pic>
      <p:pic>
        <p:nvPicPr>
          <p:cNvPr id="31" name="Picture 2" descr="16th International CDIO Conference, hosted on-line by Chalmers University  of Technology"/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025" b="97737" l="3500" r="97800">
                        <a14:foregroundMark x1="19400" y1="71399" x2="19400" y2="71399"/>
                        <a14:foregroundMark x1="17400" y1="20988" x2="17400" y2="20988"/>
                        <a14:foregroundMark x1="42000" y1="19753" x2="42000" y2="19753"/>
                        <a14:foregroundMark x1="60800" y1="21399" x2="60800" y2="21399"/>
                        <a14:foregroundMark x1="79100" y1="21193" x2="79100" y2="21193"/>
                        <a14:foregroundMark x1="79800" y1="62346" x2="79800" y2="62346"/>
                        <a14:foregroundMark x1="80900" y1="59465" x2="80900" y2="594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1891" y="-179452"/>
            <a:ext cx="8779309" cy="426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/>
          <p:cNvSpPr/>
          <p:nvPr userDrawn="1"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8807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115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indent="-457200" algn="l" defTabSz="4389120" rtl="0" eaLnBrk="1" latinLnBrk="0" hangingPunct="1">
        <a:lnSpc>
          <a:spcPct val="100000"/>
        </a:lnSpc>
        <a:spcBef>
          <a:spcPts val="1200"/>
        </a:spcBef>
        <a:buClr>
          <a:schemeClr val="bg1">
            <a:lumMod val="65000"/>
          </a:schemeClr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720" userDrawn="1">
          <p15:clr>
            <a:srgbClr val="A4A3A4"/>
          </p15:clr>
        </p15:guide>
        <p15:guide id="3" pos="2692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Placeholder 6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1289485" y="19102825"/>
            <a:ext cx="12801600" cy="1219200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70" name="Text Placeholder 69"/>
          <p:cNvSpPr>
            <a:spLocks noGrp="1"/>
          </p:cNvSpPr>
          <p:nvPr>
            <p:ph type="body" sz="quarter" idx="40"/>
          </p:nvPr>
        </p:nvSpPr>
        <p:spPr>
          <a:xfrm>
            <a:off x="15544800" y="5699760"/>
            <a:ext cx="12801600" cy="1219200"/>
          </a:xfrm>
        </p:spPr>
        <p:txBody>
          <a:bodyPr/>
          <a:lstStyle/>
          <a:p>
            <a:r>
              <a:rPr lang="en-US"/>
              <a:t>Procedure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9"/>
          </p:nvPr>
        </p:nvSpPr>
        <p:spPr>
          <a:xfrm>
            <a:off x="15513829" y="16653416"/>
            <a:ext cx="12801600" cy="1219200"/>
          </a:xfrm>
        </p:spPr>
        <p:txBody>
          <a:bodyPr/>
          <a:lstStyle/>
          <a:p>
            <a:r>
              <a:rPr lang="en-US" dirty="0"/>
              <a:t>Software Design 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29900880" y="5669279"/>
            <a:ext cx="13487400" cy="1362747"/>
          </a:xfrm>
        </p:spPr>
        <p:txBody>
          <a:bodyPr/>
          <a:lstStyle/>
          <a:p>
            <a:r>
              <a:rPr lang="en-US" dirty="0"/>
              <a:t>Implementation / Outcome / Improvements</a:t>
            </a:r>
          </a:p>
        </p:txBody>
      </p:sp>
      <p:sp>
        <p:nvSpPr>
          <p:cNvPr id="71" name="Text Placeholder 70"/>
          <p:cNvSpPr>
            <a:spLocks noGrp="1"/>
          </p:cNvSpPr>
          <p:nvPr>
            <p:ph type="body" sz="quarter" idx="41"/>
          </p:nvPr>
        </p:nvSpPr>
        <p:spPr>
          <a:xfrm>
            <a:off x="29888180" y="23587543"/>
            <a:ext cx="12801600" cy="1219200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2"/>
          </p:nvPr>
        </p:nvSpPr>
        <p:spPr>
          <a:xfrm>
            <a:off x="29965650" y="7199421"/>
            <a:ext cx="13277850" cy="16273822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/>
              <a:t>Implementation</a:t>
            </a:r>
          </a:p>
          <a:p>
            <a:r>
              <a:rPr lang="en-US" sz="2800" dirty="0"/>
              <a:t>The system will use an Arduino Uno with an Arduino Shield to manage all components and connections efficiently.</a:t>
            </a:r>
          </a:p>
          <a:p>
            <a:r>
              <a:rPr lang="en-US" sz="2800" dirty="0"/>
              <a:t>Ultrasonic sensors will detect obstacles and measure real-time distances. </a:t>
            </a:r>
          </a:p>
          <a:p>
            <a:r>
              <a:rPr lang="en-US" sz="2800" dirty="0"/>
              <a:t>Infrared (IR) sensors will guide a 2WD robot car along a black path. </a:t>
            </a:r>
          </a:p>
          <a:p>
            <a:r>
              <a:rPr lang="en-US" sz="2800" dirty="0"/>
              <a:t>A PIR sensor will detect motion and contribute to obstacle detection. </a:t>
            </a:r>
          </a:p>
          <a:p>
            <a:r>
              <a:rPr lang="en-US" sz="2800" dirty="0"/>
              <a:t>An LCD screen will display real-time information about detected obstacles. </a:t>
            </a:r>
          </a:p>
          <a:p>
            <a:r>
              <a:rPr lang="en-US" sz="2800" dirty="0"/>
              <a:t>Audio indicators (buzzer and LED) will provide real-time feedback when the car stops. </a:t>
            </a:r>
          </a:p>
          <a:p>
            <a:r>
              <a:rPr lang="en-US" sz="2800" dirty="0"/>
              <a:t>A target board will enable light-based start and stop functionality. </a:t>
            </a:r>
          </a:p>
          <a:p>
            <a:r>
              <a:rPr lang="en-US" sz="2800" dirty="0"/>
              <a:t>Wi-Fi integration (ESP-01 module) will allow obstacle data transmission to caregivers.</a:t>
            </a:r>
          </a:p>
          <a:p>
            <a:pPr marL="0" indent="0">
              <a:buNone/>
            </a:pPr>
            <a:r>
              <a:rPr lang="en-US" sz="2800" b="1" u="sng" dirty="0"/>
              <a:t>Outcome</a:t>
            </a:r>
          </a:p>
          <a:p>
            <a:r>
              <a:rPr lang="en-US" sz="2800" dirty="0"/>
              <a:t>Enhanced navigation safety for visually impaired users through real-time obstacle detection. </a:t>
            </a:r>
          </a:p>
          <a:p>
            <a:r>
              <a:rPr lang="en-US" sz="2800" dirty="0"/>
              <a:t>Real-time feedback via buzzer and LED when the car stops, improving user awareness. </a:t>
            </a:r>
          </a:p>
          <a:p>
            <a:r>
              <a:rPr lang="en-US" sz="2800" dirty="0"/>
              <a:t>Structured navigation with IR-based path-following to ensure smooth movement. </a:t>
            </a:r>
          </a:p>
          <a:p>
            <a:r>
              <a:rPr lang="en-US" sz="2800" dirty="0"/>
              <a:t>Remote monitoring through Wi-Fi, allowing caregivers to receive real-time obstacle alerts. </a:t>
            </a:r>
          </a:p>
          <a:p>
            <a:r>
              <a:rPr lang="en-US" sz="2800" dirty="0"/>
              <a:t>Automated control with light-based start and stop functionality for better usability.</a:t>
            </a:r>
          </a:p>
          <a:p>
            <a:pPr marL="0" indent="0">
              <a:buNone/>
            </a:pPr>
            <a:r>
              <a:rPr lang="en-US" sz="2800" b="1" u="sng" dirty="0"/>
              <a:t>Improvements</a:t>
            </a:r>
          </a:p>
          <a:p>
            <a:r>
              <a:rPr lang="en-SG" sz="2800" dirty="0"/>
              <a:t>Integration with AI and machine learning for better obstacle classification.</a:t>
            </a:r>
          </a:p>
          <a:p>
            <a:r>
              <a:rPr lang="en-SG" sz="2800" dirty="0"/>
              <a:t>Compact wearable version (e.g., smart glasses or belt).</a:t>
            </a:r>
          </a:p>
          <a:p>
            <a:r>
              <a:rPr lang="en-SG" sz="2800" dirty="0"/>
              <a:t>Enhanced environmental sensing (temperature, humidity, rain detection).</a:t>
            </a:r>
          </a:p>
          <a:p>
            <a:r>
              <a:rPr lang="en-SG" sz="2800" dirty="0"/>
              <a:t>GPS integration for outdoor navigation assistance.</a:t>
            </a:r>
          </a:p>
          <a:p>
            <a:r>
              <a:rPr lang="en-SG" sz="2800" dirty="0"/>
              <a:t>Adaptive path correction if the robot deviates from the track.</a:t>
            </a:r>
          </a:p>
          <a:p>
            <a:r>
              <a:rPr lang="en-US" sz="2800" dirty="0"/>
              <a:t>Real-time audio feedback to alert users of nearby obstacles.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SG" dirty="0"/>
              <a:t>Hardware design</a:t>
            </a:r>
          </a:p>
        </p:txBody>
      </p:sp>
      <p:sp>
        <p:nvSpPr>
          <p:cNvPr id="27" name="Content Placeholder 14"/>
          <p:cNvSpPr>
            <a:spLocks noGrp="1"/>
          </p:cNvSpPr>
          <p:nvPr>
            <p:ph sz="quarter" idx="42"/>
          </p:nvPr>
        </p:nvSpPr>
        <p:spPr>
          <a:xfrm>
            <a:off x="29946600" y="24974138"/>
            <a:ext cx="12801600" cy="5649238"/>
          </a:xfrm>
        </p:spPr>
        <p:txBody>
          <a:bodyPr lIns="91440" tIns="182880" rIns="91440" bIns="45720" anchor="t"/>
          <a:lstStyle/>
          <a:p>
            <a:r>
              <a:rPr lang="en-US" dirty="0"/>
              <a:t>June Wai (Team Leader) – Designing &amp; fabricating (3D printing for car body &amp; laser cutting for car top) &amp; codes for line tracer (IR sensors and Motors)</a:t>
            </a:r>
          </a:p>
          <a:p>
            <a:r>
              <a:rPr lang="en-US" dirty="0"/>
              <a:t>Eddie – Codes for </a:t>
            </a:r>
            <a:r>
              <a:rPr lang="en-US" dirty="0" err="1"/>
              <a:t>WiFi</a:t>
            </a:r>
            <a:r>
              <a:rPr lang="en-US" dirty="0"/>
              <a:t>-module, improves line tracer and combines overall code</a:t>
            </a:r>
            <a:endParaRPr lang="en-US" dirty="0">
              <a:cs typeface="Arial"/>
            </a:endParaRPr>
          </a:p>
          <a:p>
            <a:r>
              <a:rPr lang="en-US" dirty="0"/>
              <a:t>Sarah – Codes for LCD, Buzzer, Ultrasound Sensors, PIR Sensor, LED &amp; does poster &amp; video </a:t>
            </a:r>
          </a:p>
          <a:p>
            <a:r>
              <a:rPr lang="en-US" dirty="0"/>
              <a:t>Javen – Codes for Target Board, motor, combines code &amp;  improves line tracer</a:t>
            </a:r>
          </a:p>
          <a:p>
            <a:endParaRPr lang="en-US" dirty="0"/>
          </a:p>
        </p:txBody>
      </p:sp>
      <p:sp>
        <p:nvSpPr>
          <p:cNvPr id="26" name="Text Placeholder 66"/>
          <p:cNvSpPr>
            <a:spLocks noGrp="1"/>
          </p:cNvSpPr>
          <p:nvPr>
            <p:ph type="body" sz="quarter" idx="13"/>
          </p:nvPr>
        </p:nvSpPr>
        <p:spPr>
          <a:xfrm>
            <a:off x="1165860" y="14101111"/>
            <a:ext cx="12801600" cy="1280160"/>
          </a:xfrm>
        </p:spPr>
        <p:txBody>
          <a:bodyPr/>
          <a:lstStyle/>
          <a:p>
            <a:r>
              <a:rPr lang="en-US" dirty="0"/>
              <a:t>Idea /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1723" y="15632781"/>
            <a:ext cx="128338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 an affordable real-time obstacle detection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Improve mobility, independence, and safety for visually impaired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Integrate multi-sensory feedback (audio, optional vibration).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Ensure the system is lightweight, easy to use, and scalable for future improvements.</a:t>
            </a:r>
          </a:p>
          <a:p>
            <a:endParaRPr lang="en-SG" sz="3200" dirty="0"/>
          </a:p>
        </p:txBody>
      </p:sp>
      <p:sp>
        <p:nvSpPr>
          <p:cNvPr id="19" name="Rectangle 18"/>
          <p:cNvSpPr/>
          <p:nvPr/>
        </p:nvSpPr>
        <p:spPr>
          <a:xfrm>
            <a:off x="1289485" y="7187305"/>
            <a:ext cx="12677975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Visually impaired individuals face significant challenges in safely navigating their environment due to obstacles. Traditional mobility aids like canes provide limited feedback and require physical contact, making independent movement difficult. A more advanced, real-time assistive system can enhance mobility, safety, and independence. This aligns with UN SDGs, including </a:t>
            </a:r>
            <a:r>
              <a:rPr lang="en-US" sz="3200" b="1" dirty="0"/>
              <a:t>Goal 10 (Reduced Inequalities)</a:t>
            </a:r>
            <a:r>
              <a:rPr lang="en-US" sz="3200" dirty="0"/>
              <a:t> by ensuring equal access to safe mobility solutions, </a:t>
            </a:r>
            <a:r>
              <a:rPr lang="en-US" sz="3200" b="1" dirty="0"/>
              <a:t>Goal 11 (Sustainable Cities and Communities) </a:t>
            </a:r>
            <a:r>
              <a:rPr lang="en-US" sz="3200" dirty="0"/>
              <a:t>by supporting inclusive infrastructure, and </a:t>
            </a:r>
            <a:r>
              <a:rPr lang="en-US" sz="3200" b="1" dirty="0"/>
              <a:t>Goal 13 (Climate Action)</a:t>
            </a:r>
            <a:r>
              <a:rPr lang="en-US" sz="3200" dirty="0"/>
              <a:t> by incorporating environmental monitoring features for safety in adverse weather conditions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/>
          <p:cNvSpPr>
            <a:spLocks noGrp="1"/>
          </p:cNvSpPr>
          <p:nvPr>
            <p:ph type="title"/>
          </p:nvPr>
        </p:nvSpPr>
        <p:spPr>
          <a:xfrm>
            <a:off x="584200" y="1726828"/>
            <a:ext cx="38334950" cy="2702792"/>
          </a:xfrm>
        </p:spPr>
        <p:txBody>
          <a:bodyPr>
            <a:noAutofit/>
          </a:bodyPr>
          <a:lstStyle/>
          <a:p>
            <a:r>
              <a:rPr lang="en-US" sz="9000" b="1" dirty="0"/>
              <a:t>Smart Assistive Navigation System for the Visually Impaired</a:t>
            </a:r>
            <a:br>
              <a:rPr lang="en-US" sz="9000" dirty="0"/>
            </a:br>
            <a:endParaRPr lang="en-US" sz="9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38C66-D9C2-A165-64AE-90E2339F5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8113" y="7453209"/>
            <a:ext cx="12717316" cy="8588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5BFA75-0E8E-5609-A506-BF7C52DA8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030" y="20381848"/>
            <a:ext cx="12801600" cy="84534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1B98CA-C57B-C177-CFDA-0C243F1547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195180" y="17986536"/>
            <a:ext cx="6750419" cy="1125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07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1D1F-E997-72B0-B5DC-597F74AB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FF430502-5761-24F0-481D-E049CE0EE899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9069573-D1DF-7D8E-8CD8-23BD1E0C6BE2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7826890-B6A1-1585-6796-8E574247A3EA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F3BE4E0-AAE0-DA48-51DB-CCB313931ACA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67E1422B-48AC-D4D8-A0DB-1A5194CC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B5729B5-6D8E-0CB6-C67D-0AF4DF0182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10A32A3-1010-19DB-E7C0-8BCDD1CC9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5669280"/>
            <a:ext cx="41605200" cy="1280160"/>
          </a:xfrm>
        </p:spPr>
        <p:txBody>
          <a:bodyPr/>
          <a:lstStyle/>
          <a:p>
            <a:r>
              <a:rPr lang="en-SG" dirty="0"/>
              <a:t>Project Overview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4EB23DB-BC05-2406-D47C-45726E1EF100}"/>
              </a:ext>
            </a:extLst>
          </p:cNvPr>
          <p:cNvSpPr/>
          <p:nvPr/>
        </p:nvSpPr>
        <p:spPr>
          <a:xfrm>
            <a:off x="19520066" y="23515943"/>
            <a:ext cx="3555676" cy="61856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64FB13B-3E23-3CEF-71EB-CD909696C5D5}"/>
              </a:ext>
            </a:extLst>
          </p:cNvPr>
          <p:cNvSpPr/>
          <p:nvPr/>
        </p:nvSpPr>
        <p:spPr>
          <a:xfrm rot="5400000">
            <a:off x="28353153" y="15876053"/>
            <a:ext cx="6691605" cy="71766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F6F80BC-6C90-A082-28FB-D1D0B7F9C2FC}"/>
              </a:ext>
            </a:extLst>
          </p:cNvPr>
          <p:cNvSpPr/>
          <p:nvPr/>
        </p:nvSpPr>
        <p:spPr>
          <a:xfrm rot="19614984">
            <a:off x="25356495" y="25002797"/>
            <a:ext cx="4716957" cy="6550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DEC3DEE-B716-11F7-800C-3BBCBCE124D9}"/>
              </a:ext>
            </a:extLst>
          </p:cNvPr>
          <p:cNvSpPr/>
          <p:nvPr/>
        </p:nvSpPr>
        <p:spPr>
          <a:xfrm>
            <a:off x="19037621" y="20088842"/>
            <a:ext cx="3555676" cy="61856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36030E-A1B1-ABE9-2DCD-C12CCF013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094" y="7420179"/>
            <a:ext cx="36619012" cy="2054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5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943C-0314-AA56-1190-73D2BC0F4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1F1EE6C-D0F2-7CEC-12DD-D99594652F69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5F8B99-E903-CAE2-E23E-5EB56EB8B3DA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102BD2D-FA24-E442-F66B-02522CCD5812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7F5D12B-1325-7FA2-DB95-C320F09F7F43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37FEAADE-EE7C-C3A9-6D49-18B9D51E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8864F53-0A65-B20B-9E04-17BF051C20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BD8AAD9-8E7A-BC41-C63E-4C539518D8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5669280"/>
            <a:ext cx="41605200" cy="1280160"/>
          </a:xfrm>
        </p:spPr>
        <p:txBody>
          <a:bodyPr/>
          <a:lstStyle/>
          <a:p>
            <a:r>
              <a:rPr lang="en-SG" dirty="0"/>
              <a:t>Project Overview (sketch)</a:t>
            </a:r>
          </a:p>
        </p:txBody>
      </p:sp>
      <p:pic>
        <p:nvPicPr>
          <p:cNvPr id="2060" name="Picture 12" descr="Hand drawn beautiful autumn landscape">
            <a:extLst>
              <a:ext uri="{FF2B5EF4-FFF2-40B4-BE49-F238E27FC236}">
                <a16:creationId xmlns:a16="http://schemas.microsoft.com/office/drawing/2014/main" id="{44144E28-F555-804A-D5A2-CC24B2627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067" y="7215033"/>
            <a:ext cx="32887584" cy="2190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78CD218-E056-A299-3493-5ECF606D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063" y="11252444"/>
            <a:ext cx="17672796" cy="176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301EDA32-0EBE-D5D5-DE63-97E25744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0738" y="20825233"/>
            <a:ext cx="9652610" cy="5430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B6629AB3-19E3-F026-415D-72A85CDB2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7097" y="18999570"/>
            <a:ext cx="5199893" cy="390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F08D9AA3-358F-BD10-45F9-3741798A3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3297" y="22475013"/>
            <a:ext cx="3443507" cy="344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9E5515CD-643F-BC7D-603B-4EA8B3B78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2309" y="16359153"/>
            <a:ext cx="4386878" cy="438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2AFE5BBB-36F2-E0F0-1719-78E6C7B1E947}"/>
              </a:ext>
            </a:extLst>
          </p:cNvPr>
          <p:cNvSpPr/>
          <p:nvPr/>
        </p:nvSpPr>
        <p:spPr>
          <a:xfrm rot="1666784">
            <a:off x="19411900" y="16034353"/>
            <a:ext cx="3555676" cy="61856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35403-2701-FFA4-944A-014E72623263}"/>
              </a:ext>
            </a:extLst>
          </p:cNvPr>
          <p:cNvSpPr txBox="1"/>
          <p:nvPr/>
        </p:nvSpPr>
        <p:spPr>
          <a:xfrm>
            <a:off x="14575270" y="13276343"/>
            <a:ext cx="9794767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LED lights up to indicate when car comes to a stop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EBCAFB4-7E8C-69F1-31B4-91D6F608678B}"/>
              </a:ext>
            </a:extLst>
          </p:cNvPr>
          <p:cNvSpPr/>
          <p:nvPr/>
        </p:nvSpPr>
        <p:spPr>
          <a:xfrm>
            <a:off x="19520066" y="23515943"/>
            <a:ext cx="3555676" cy="61856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937F6-9A69-7C57-59C3-2E169D69F82C}"/>
              </a:ext>
            </a:extLst>
          </p:cNvPr>
          <p:cNvSpPr txBox="1"/>
          <p:nvPr/>
        </p:nvSpPr>
        <p:spPr>
          <a:xfrm>
            <a:off x="9620988" y="22878768"/>
            <a:ext cx="9794767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Buzzer sounds to indicate when car comes to a stop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31EA529-148B-1296-FE67-57CCC2A1F4BC}"/>
              </a:ext>
            </a:extLst>
          </p:cNvPr>
          <p:cNvSpPr/>
          <p:nvPr/>
        </p:nvSpPr>
        <p:spPr>
          <a:xfrm rot="5400000">
            <a:off x="28353153" y="15876053"/>
            <a:ext cx="6691605" cy="71766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F0901-4C7F-17AA-B47D-5D1F38AFDBDA}"/>
              </a:ext>
            </a:extLst>
          </p:cNvPr>
          <p:cNvSpPr txBox="1"/>
          <p:nvPr/>
        </p:nvSpPr>
        <p:spPr>
          <a:xfrm>
            <a:off x="27448358" y="10684495"/>
            <a:ext cx="7783532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PIR Sensors use to detect motion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DEDD63B-00B8-E644-269A-53BCBD76A3D5}"/>
              </a:ext>
            </a:extLst>
          </p:cNvPr>
          <p:cNvSpPr/>
          <p:nvPr/>
        </p:nvSpPr>
        <p:spPr>
          <a:xfrm rot="19614984">
            <a:off x="25356495" y="25002797"/>
            <a:ext cx="4716957" cy="6550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C4606-A82A-2F68-6A4F-48333D5616B9}"/>
              </a:ext>
            </a:extLst>
          </p:cNvPr>
          <p:cNvSpPr txBox="1"/>
          <p:nvPr/>
        </p:nvSpPr>
        <p:spPr>
          <a:xfrm>
            <a:off x="15629659" y="25711935"/>
            <a:ext cx="9794767" cy="193899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Ultrasound Sensors use to detect objects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77FB58D-75E1-6E84-DA55-B5B1ABB878C3}"/>
              </a:ext>
            </a:extLst>
          </p:cNvPr>
          <p:cNvSpPr/>
          <p:nvPr/>
        </p:nvSpPr>
        <p:spPr>
          <a:xfrm>
            <a:off x="19037621" y="20088842"/>
            <a:ext cx="3555676" cy="618565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7F7783-F8AC-941C-71A9-4CDD5ED49EA7}"/>
              </a:ext>
            </a:extLst>
          </p:cNvPr>
          <p:cNvSpPr txBox="1"/>
          <p:nvPr/>
        </p:nvSpPr>
        <p:spPr>
          <a:xfrm>
            <a:off x="9093200" y="18525167"/>
            <a:ext cx="9794767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Motorised wheelchair (robot car in this project) helps to assist in transporting visually impaired individuals</a:t>
            </a:r>
          </a:p>
        </p:txBody>
      </p:sp>
    </p:spTree>
    <p:extLst>
      <p:ext uri="{BB962C8B-B14F-4D97-AF65-F5344CB8AC3E}">
        <p14:creationId xmlns:p14="http://schemas.microsoft.com/office/powerpoint/2010/main" val="178009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1C6BE-A162-AEA6-F716-53EA8664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9A44EA4F-5015-1DF9-A38F-39980AA6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86"/>
          <a:stretch/>
        </p:blipFill>
        <p:spPr>
          <a:xfrm>
            <a:off x="27741905" y="23252070"/>
            <a:ext cx="4090348" cy="3324689"/>
          </a:xfrm>
          <a:prstGeom prst="rect">
            <a:avLst/>
          </a:prstGeom>
        </p:spPr>
      </p:pic>
      <p:pic>
        <p:nvPicPr>
          <p:cNvPr id="1038" name="Picture 14" descr="PIR Motion Sensor Module - SR501">
            <a:extLst>
              <a:ext uri="{FF2B5EF4-FFF2-40B4-BE49-F238E27FC236}">
                <a16:creationId xmlns:a16="http://schemas.microsoft.com/office/drawing/2014/main" id="{E36084B2-9947-3488-BBE1-BD1C825D1E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89" b="17707"/>
          <a:stretch/>
        </p:blipFill>
        <p:spPr bwMode="auto">
          <a:xfrm>
            <a:off x="21088694" y="23061450"/>
            <a:ext cx="5362575" cy="414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R Obstacle Sensor 2-30cm 2-40cm">
            <a:extLst>
              <a:ext uri="{FF2B5EF4-FFF2-40B4-BE49-F238E27FC236}">
                <a16:creationId xmlns:a16="http://schemas.microsoft.com/office/drawing/2014/main" id="{F17ADE30-D425-565C-B419-BD5705C97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8694" y="3896323"/>
            <a:ext cx="7056735" cy="5292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9DE64920-8FFB-CFAA-BF0D-DA5134216973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C03C36-8695-11F6-443D-B9782E7AE9F4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4C40F8-E707-A336-57E2-550D0292D804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E368D64-B68B-A9ED-A165-0BCA527ACD82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3D215AE6-E649-2BC5-0642-E2AC6BA0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F9108C8-953B-A086-21FC-C3E23AAABC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4654" y="10807326"/>
            <a:ext cx="24230801" cy="1130374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4F79833-5FAA-F2DD-EDA1-6DA078712FC6}"/>
              </a:ext>
            </a:extLst>
          </p:cNvPr>
          <p:cNvSpPr/>
          <p:nvPr/>
        </p:nvSpPr>
        <p:spPr>
          <a:xfrm>
            <a:off x="11752729" y="15813741"/>
            <a:ext cx="3227295" cy="3523130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1026" name="Picture 2" descr="Ultrasonic Distance Sensor HC-SR04 5V Version">
            <a:extLst>
              <a:ext uri="{FF2B5EF4-FFF2-40B4-BE49-F238E27FC236}">
                <a16:creationId xmlns:a16="http://schemas.microsoft.com/office/drawing/2014/main" id="{C3286628-0DC9-783E-B5AA-73BF38200B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6" t="17641" r="20280" b="19681"/>
          <a:stretch/>
        </p:blipFill>
        <p:spPr bwMode="auto">
          <a:xfrm>
            <a:off x="978735" y="12907061"/>
            <a:ext cx="6672599" cy="402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2DD6FACB-1587-1F38-E3C5-CE2FF4948236}"/>
              </a:ext>
            </a:extLst>
          </p:cNvPr>
          <p:cNvSpPr/>
          <p:nvPr/>
        </p:nvSpPr>
        <p:spPr>
          <a:xfrm rot="1393068">
            <a:off x="6979891" y="15508344"/>
            <a:ext cx="4835235" cy="676753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44" name="Picture 2" descr="Ultrasonic Distance Sensor HC-SR04 5V Version">
            <a:extLst>
              <a:ext uri="{FF2B5EF4-FFF2-40B4-BE49-F238E27FC236}">
                <a16:creationId xmlns:a16="http://schemas.microsoft.com/office/drawing/2014/main" id="{91AE9932-1C4C-21E8-A320-7B6C2ED8E3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56" t="17641" r="20280" b="19681"/>
          <a:stretch/>
        </p:blipFill>
        <p:spPr bwMode="auto">
          <a:xfrm>
            <a:off x="1087983" y="19064454"/>
            <a:ext cx="6672599" cy="402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D3D898A6-80A6-3AC6-9098-B12A67A06A4A}"/>
              </a:ext>
            </a:extLst>
          </p:cNvPr>
          <p:cNvSpPr/>
          <p:nvPr/>
        </p:nvSpPr>
        <p:spPr>
          <a:xfrm rot="19983332">
            <a:off x="6933174" y="19339701"/>
            <a:ext cx="4835235" cy="676753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2011CC-E326-4FA9-961C-4CCBD188B156}"/>
              </a:ext>
            </a:extLst>
          </p:cNvPr>
          <p:cNvSpPr txBox="1"/>
          <p:nvPr/>
        </p:nvSpPr>
        <p:spPr>
          <a:xfrm>
            <a:off x="511188" y="16410452"/>
            <a:ext cx="782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Ultrasound Sensor #1</a:t>
            </a:r>
          </a:p>
          <a:p>
            <a:pPr algn="ctr"/>
            <a:r>
              <a:rPr lang="en-US" sz="6000" dirty="0"/>
              <a:t>D10, D11</a:t>
            </a:r>
            <a:endParaRPr lang="en-SG" sz="6000" dirty="0" err="1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E6BB05-DFA6-6228-EC7C-325C79563509}"/>
              </a:ext>
            </a:extLst>
          </p:cNvPr>
          <p:cNvSpPr txBox="1"/>
          <p:nvPr/>
        </p:nvSpPr>
        <p:spPr>
          <a:xfrm>
            <a:off x="660912" y="22578131"/>
            <a:ext cx="78261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Ultrasound Sensor #2</a:t>
            </a:r>
          </a:p>
          <a:p>
            <a:pPr algn="ctr"/>
            <a:r>
              <a:rPr lang="en-US" sz="6000" dirty="0"/>
              <a:t>D7, D8 </a:t>
            </a:r>
            <a:endParaRPr lang="en-SG" sz="6000" dirty="0" err="1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8183878-7DD3-BCDD-EAE2-AAFA43055E45}"/>
              </a:ext>
            </a:extLst>
          </p:cNvPr>
          <p:cNvSpPr/>
          <p:nvPr/>
        </p:nvSpPr>
        <p:spPr>
          <a:xfrm>
            <a:off x="17602200" y="12532659"/>
            <a:ext cx="2891118" cy="5748287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1028" name="Picture 4" descr="WiFi Module - ESP8266 - Protocentral Electronics">
            <a:extLst>
              <a:ext uri="{FF2B5EF4-FFF2-40B4-BE49-F238E27FC236}">
                <a16:creationId xmlns:a16="http://schemas.microsoft.com/office/drawing/2014/main" id="{307E678F-30AE-AEB1-3880-6B5FF1C4C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95"/>
          <a:stretch/>
        </p:blipFill>
        <p:spPr bwMode="auto">
          <a:xfrm>
            <a:off x="16442393" y="5107737"/>
            <a:ext cx="5246541" cy="473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Arrow: Right 52">
            <a:extLst>
              <a:ext uri="{FF2B5EF4-FFF2-40B4-BE49-F238E27FC236}">
                <a16:creationId xmlns:a16="http://schemas.microsoft.com/office/drawing/2014/main" id="{F13E8C31-C0A4-A060-C832-171D497D4EE9}"/>
              </a:ext>
            </a:extLst>
          </p:cNvPr>
          <p:cNvSpPr/>
          <p:nvPr/>
        </p:nvSpPr>
        <p:spPr>
          <a:xfrm rot="5400000">
            <a:off x="17913548" y="10728686"/>
            <a:ext cx="2304235" cy="640934"/>
          </a:xfrm>
          <a:prstGeom prst="rightArrow">
            <a:avLst>
              <a:gd name="adj1" fmla="val 57038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A98F1C-183A-C8F5-BCFC-E0AC3C599971}"/>
              </a:ext>
            </a:extLst>
          </p:cNvPr>
          <p:cNvSpPr txBox="1"/>
          <p:nvPr/>
        </p:nvSpPr>
        <p:spPr>
          <a:xfrm>
            <a:off x="16682173" y="8874014"/>
            <a:ext cx="4766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/>
              <a:t>Wi-Fi Module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FDD66300-11AD-5EBC-FB3F-B0C038E0031C}"/>
              </a:ext>
            </a:extLst>
          </p:cNvPr>
          <p:cNvSpPr/>
          <p:nvPr/>
        </p:nvSpPr>
        <p:spPr>
          <a:xfrm rot="2155669">
            <a:off x="9694337" y="11386396"/>
            <a:ext cx="4835235" cy="676753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1CE0D0-53B8-8146-DC08-358A8B9DDCDA}"/>
              </a:ext>
            </a:extLst>
          </p:cNvPr>
          <p:cNvSpPr/>
          <p:nvPr/>
        </p:nvSpPr>
        <p:spPr>
          <a:xfrm>
            <a:off x="14182435" y="13393272"/>
            <a:ext cx="2671212" cy="2017058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1030" name="Picture 6" descr="RG1602 Display 16*2 3.3V (BLUE) online at best price|Rajguru Electronics">
            <a:extLst>
              <a:ext uri="{FF2B5EF4-FFF2-40B4-BE49-F238E27FC236}">
                <a16:creationId xmlns:a16="http://schemas.microsoft.com/office/drawing/2014/main" id="{377A758E-5F67-6F4B-6419-7E6A44DC50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3" t="26901" r="7961" b="27621"/>
          <a:stretch/>
        </p:blipFill>
        <p:spPr bwMode="auto">
          <a:xfrm>
            <a:off x="6177182" y="5314385"/>
            <a:ext cx="7809703" cy="4186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93E1001-26F3-4D34-B552-53EC90F5D97E}"/>
              </a:ext>
            </a:extLst>
          </p:cNvPr>
          <p:cNvSpPr txBox="1"/>
          <p:nvPr/>
        </p:nvSpPr>
        <p:spPr>
          <a:xfrm>
            <a:off x="7698543" y="9192961"/>
            <a:ext cx="47669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/>
              <a:t>LCD Display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21CB0A-761C-BBCA-077B-D5AFF715D697}"/>
              </a:ext>
            </a:extLst>
          </p:cNvPr>
          <p:cNvSpPr/>
          <p:nvPr/>
        </p:nvSpPr>
        <p:spPr>
          <a:xfrm>
            <a:off x="15113637" y="15813741"/>
            <a:ext cx="2134456" cy="1577788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B230D96D-3E4A-7BA0-8588-06B16CDC4F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0924" y="24057772"/>
            <a:ext cx="4182059" cy="4020111"/>
          </a:xfrm>
          <a:prstGeom prst="rect">
            <a:avLst/>
          </a:prstGeom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9388060E-B94A-B756-50E9-890E208C6CCF}"/>
              </a:ext>
            </a:extLst>
          </p:cNvPr>
          <p:cNvSpPr/>
          <p:nvPr/>
        </p:nvSpPr>
        <p:spPr>
          <a:xfrm rot="17924300" flipV="1">
            <a:off x="9704328" y="19913819"/>
            <a:ext cx="8370751" cy="782022"/>
          </a:xfrm>
          <a:prstGeom prst="rightArrow">
            <a:avLst>
              <a:gd name="adj1" fmla="val 46523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D9F53DA-88BE-5C1D-C1FD-E2A1E9F58054}"/>
              </a:ext>
            </a:extLst>
          </p:cNvPr>
          <p:cNvSpPr/>
          <p:nvPr/>
        </p:nvSpPr>
        <p:spPr>
          <a:xfrm>
            <a:off x="15077779" y="17687363"/>
            <a:ext cx="2134456" cy="1577788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F632D3-475C-7077-2B66-69FD189B2C95}"/>
              </a:ext>
            </a:extLst>
          </p:cNvPr>
          <p:cNvSpPr txBox="1"/>
          <p:nvPr/>
        </p:nvSpPr>
        <p:spPr>
          <a:xfrm>
            <a:off x="9093200" y="27748211"/>
            <a:ext cx="60510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Target Board</a:t>
            </a:r>
          </a:p>
          <a:p>
            <a:pPr algn="ctr"/>
            <a:r>
              <a:rPr lang="en-SG" sz="6000" dirty="0"/>
              <a:t>D4 </a:t>
            </a:r>
          </a:p>
        </p:txBody>
      </p:sp>
      <p:pic>
        <p:nvPicPr>
          <p:cNvPr id="1032" name="Picture 8" descr="Lite-On2.6 V Red LED 5mm Through Hole, LTL-307P">
            <a:extLst>
              <a:ext uri="{FF2B5EF4-FFF2-40B4-BE49-F238E27FC236}">
                <a16:creationId xmlns:a16="http://schemas.microsoft.com/office/drawing/2014/main" id="{54A7E93F-F860-A775-58D3-43A26AC5E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8250" y="23061450"/>
            <a:ext cx="3515309" cy="351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Arrow: Right 63">
            <a:extLst>
              <a:ext uri="{FF2B5EF4-FFF2-40B4-BE49-F238E27FC236}">
                <a16:creationId xmlns:a16="http://schemas.microsoft.com/office/drawing/2014/main" id="{736C1E70-3979-0100-9D8E-517D98B5B483}"/>
              </a:ext>
            </a:extLst>
          </p:cNvPr>
          <p:cNvSpPr/>
          <p:nvPr/>
        </p:nvSpPr>
        <p:spPr>
          <a:xfrm rot="14490774">
            <a:off x="14887438" y="21433100"/>
            <a:ext cx="4835235" cy="676753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8D3E02-ACE1-C4FE-8733-41DF2FD27AE8}"/>
              </a:ext>
            </a:extLst>
          </p:cNvPr>
          <p:cNvSpPr txBox="1"/>
          <p:nvPr/>
        </p:nvSpPr>
        <p:spPr>
          <a:xfrm>
            <a:off x="16982254" y="26795000"/>
            <a:ext cx="4807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Red LED</a:t>
            </a:r>
          </a:p>
          <a:p>
            <a:pPr algn="ctr"/>
            <a:r>
              <a:rPr lang="en-SG" sz="6000" dirty="0"/>
              <a:t>D2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7AC02CE-E498-18F7-8611-64F015FCEAA1}"/>
              </a:ext>
            </a:extLst>
          </p:cNvPr>
          <p:cNvSpPr/>
          <p:nvPr/>
        </p:nvSpPr>
        <p:spPr>
          <a:xfrm>
            <a:off x="20766738" y="13393272"/>
            <a:ext cx="1662956" cy="4294091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E3697A5-0109-4B7C-D4AE-FE06EFC6B294}"/>
              </a:ext>
            </a:extLst>
          </p:cNvPr>
          <p:cNvSpPr/>
          <p:nvPr/>
        </p:nvSpPr>
        <p:spPr>
          <a:xfrm rot="7576073">
            <a:off x="20860454" y="11182457"/>
            <a:ext cx="3580827" cy="774250"/>
          </a:xfrm>
          <a:prstGeom prst="rightArrow">
            <a:avLst>
              <a:gd name="adj1" fmla="val 57038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/>
          </a:p>
        </p:txBody>
      </p:sp>
      <p:pic>
        <p:nvPicPr>
          <p:cNvPr id="1034" name="Picture 10" descr="IR Obstacle Sensor 2-30cm 2-40cm">
            <a:extLst>
              <a:ext uri="{FF2B5EF4-FFF2-40B4-BE49-F238E27FC236}">
                <a16:creationId xmlns:a16="http://schemas.microsoft.com/office/drawing/2014/main" id="{4DA7B1B0-B93C-EB6C-4E2A-3D1BDA83B0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4"/>
          <a:stretch/>
        </p:blipFill>
        <p:spPr bwMode="auto">
          <a:xfrm>
            <a:off x="27412548" y="5170188"/>
            <a:ext cx="7056736" cy="368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Arrow: Right 68">
            <a:extLst>
              <a:ext uri="{FF2B5EF4-FFF2-40B4-BE49-F238E27FC236}">
                <a16:creationId xmlns:a16="http://schemas.microsoft.com/office/drawing/2014/main" id="{797CB73F-738C-9C4A-89CF-32282D3098FF}"/>
              </a:ext>
            </a:extLst>
          </p:cNvPr>
          <p:cNvSpPr/>
          <p:nvPr/>
        </p:nvSpPr>
        <p:spPr>
          <a:xfrm rot="8169460" flipV="1">
            <a:off x="20112185" y="11834727"/>
            <a:ext cx="10872630" cy="797801"/>
          </a:xfrm>
          <a:prstGeom prst="rightArrow">
            <a:avLst>
              <a:gd name="adj1" fmla="val 57038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8ACCFA-FF3D-A821-BAB7-801407C5451D}"/>
              </a:ext>
            </a:extLst>
          </p:cNvPr>
          <p:cNvSpPr txBox="1"/>
          <p:nvPr/>
        </p:nvSpPr>
        <p:spPr>
          <a:xfrm>
            <a:off x="21966205" y="7998043"/>
            <a:ext cx="50805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IR Sensor</a:t>
            </a:r>
          </a:p>
          <a:p>
            <a:pPr algn="ctr"/>
            <a:r>
              <a:rPr lang="en-SG" sz="6000" dirty="0"/>
              <a:t>A0 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FE86F46-D765-6BF8-DD1F-0065A559DD3D}"/>
              </a:ext>
            </a:extLst>
          </p:cNvPr>
          <p:cNvSpPr txBox="1"/>
          <p:nvPr/>
        </p:nvSpPr>
        <p:spPr>
          <a:xfrm>
            <a:off x="28290059" y="7275000"/>
            <a:ext cx="50805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IR Sensor</a:t>
            </a:r>
          </a:p>
          <a:p>
            <a:pPr algn="ctr"/>
            <a:r>
              <a:rPr lang="en-SG" sz="6000" dirty="0"/>
              <a:t>A1 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330A37DA-66D1-C1AD-A918-687D777A3255}"/>
              </a:ext>
            </a:extLst>
          </p:cNvPr>
          <p:cNvSpPr/>
          <p:nvPr/>
        </p:nvSpPr>
        <p:spPr>
          <a:xfrm rot="16200000" flipV="1">
            <a:off x="20354985" y="19576095"/>
            <a:ext cx="6640606" cy="693685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74005B-22D8-C839-8AB1-CB5E04D7D8E2}"/>
              </a:ext>
            </a:extLst>
          </p:cNvPr>
          <p:cNvSpPr/>
          <p:nvPr/>
        </p:nvSpPr>
        <p:spPr>
          <a:xfrm>
            <a:off x="23397882" y="15198878"/>
            <a:ext cx="467872" cy="1095421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A9EA9E0-6B47-957D-AC5C-E583D1C16F1F}"/>
              </a:ext>
            </a:extLst>
          </p:cNvPr>
          <p:cNvSpPr txBox="1"/>
          <p:nvPr/>
        </p:nvSpPr>
        <p:spPr>
          <a:xfrm>
            <a:off x="21742533" y="26809162"/>
            <a:ext cx="4807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PIR Sensor</a:t>
            </a:r>
          </a:p>
          <a:p>
            <a:pPr algn="ctr"/>
            <a:r>
              <a:rPr lang="en-SG" sz="6000" dirty="0"/>
              <a:t>A2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F970018-6755-2E6A-0C1A-479F231860A4}"/>
              </a:ext>
            </a:extLst>
          </p:cNvPr>
          <p:cNvSpPr/>
          <p:nvPr/>
        </p:nvSpPr>
        <p:spPr>
          <a:xfrm>
            <a:off x="23874697" y="15217453"/>
            <a:ext cx="467872" cy="1095421"/>
          </a:xfrm>
          <a:prstGeom prst="rect">
            <a:avLst/>
          </a:prstGeom>
          <a:noFill/>
          <a:ln w="190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4ED19BD2-72EC-78D3-C67B-F468F085383D}"/>
              </a:ext>
            </a:extLst>
          </p:cNvPr>
          <p:cNvSpPr/>
          <p:nvPr/>
        </p:nvSpPr>
        <p:spPr>
          <a:xfrm rot="13993149" flipV="1">
            <a:off x="22932114" y="19532047"/>
            <a:ext cx="8262203" cy="625126"/>
          </a:xfrm>
          <a:prstGeom prst="rightArrow">
            <a:avLst>
              <a:gd name="adj1" fmla="val 49090"/>
              <a:gd name="adj2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B9E5D-EEB1-1603-99F2-2BE450B82BE5}"/>
              </a:ext>
            </a:extLst>
          </p:cNvPr>
          <p:cNvSpPr txBox="1"/>
          <p:nvPr/>
        </p:nvSpPr>
        <p:spPr>
          <a:xfrm>
            <a:off x="27857439" y="26440211"/>
            <a:ext cx="4807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/>
              <a:t>Buzzer</a:t>
            </a:r>
          </a:p>
          <a:p>
            <a:pPr algn="ctr"/>
            <a:r>
              <a:rPr lang="en-SG" sz="6000" dirty="0"/>
              <a:t>A3</a:t>
            </a:r>
          </a:p>
        </p:txBody>
      </p:sp>
      <p:sp>
        <p:nvSpPr>
          <p:cNvPr id="82" name="Text Placeholder 24">
            <a:extLst>
              <a:ext uri="{FF2B5EF4-FFF2-40B4-BE49-F238E27FC236}">
                <a16:creationId xmlns:a16="http://schemas.microsoft.com/office/drawing/2014/main" id="{A84B33D8-EF1F-FB64-2A30-0AA4647E491D}"/>
              </a:ext>
            </a:extLst>
          </p:cNvPr>
          <p:cNvSpPr txBox="1">
            <a:spLocks/>
          </p:cNvSpPr>
          <p:nvPr/>
        </p:nvSpPr>
        <p:spPr>
          <a:xfrm>
            <a:off x="0" y="3768472"/>
            <a:ext cx="43891200" cy="1312119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91000">
                <a:schemeClr val="accent1"/>
              </a:gs>
              <a:gs pos="90000">
                <a:schemeClr val="tx1">
                  <a:lumMod val="65000"/>
                  <a:lumOff val="35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365760" anchor="ctr">
            <a:noAutofit/>
          </a:bodyPr>
          <a:lstStyle>
            <a:lvl1pPr marL="0" indent="0" algn="ctr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5400" kern="1200" cap="none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  <a:lvl6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6pPr>
            <a:lvl7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7pPr>
            <a:lvl8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8pPr>
            <a:lvl9pPr marL="0" indent="0" algn="l" defTabSz="438912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Font typeface="Arial" panose="020B0604020202020204" pitchFamily="34" charset="0"/>
              <a:buNone/>
              <a:defRPr sz="6000" kern="1200" cap="all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SG" dirty="0"/>
              <a:t>Hardware Design</a:t>
            </a:r>
          </a:p>
        </p:txBody>
      </p:sp>
    </p:spTree>
    <p:extLst>
      <p:ext uri="{BB962C8B-B14F-4D97-AF65-F5344CB8AC3E}">
        <p14:creationId xmlns:p14="http://schemas.microsoft.com/office/powerpoint/2010/main" val="328109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2E47-F95D-D88C-7802-D42ECBF40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C2701434-AD9C-D7AC-1B00-44D32C1ED4B7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79B2F9-2584-5EE6-3C5D-EBB66D72B27A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3CAE66-7F86-A2B8-C33C-FFA7D9EA06F1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732C118-1480-2520-1B5D-87C8B255AA53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44E82DC1-942D-D559-9B9C-D29169B2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4AC37BC-AD24-2F94-23FC-3126B4918C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6E1A30A-1DA8-A941-BE99-8E142233D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5669280"/>
            <a:ext cx="41605200" cy="1280160"/>
          </a:xfrm>
        </p:spPr>
        <p:txBody>
          <a:bodyPr/>
          <a:lstStyle/>
          <a:p>
            <a:r>
              <a:rPr lang="en-SG" dirty="0"/>
              <a:t>Hardware Design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68F48FD-1411-C53F-2DBD-9F33EF6A4913}"/>
              </a:ext>
            </a:extLst>
          </p:cNvPr>
          <p:cNvSpPr/>
          <p:nvPr/>
        </p:nvSpPr>
        <p:spPr>
          <a:xfrm rot="19614984">
            <a:off x="25356495" y="25002797"/>
            <a:ext cx="4716957" cy="65506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6000" dirty="0" err="1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1DBF04-4B78-4DB6-13BF-CBD94172D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382" y="7420179"/>
            <a:ext cx="38130981" cy="2139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39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8666-E429-9ADE-AD71-2C4B9EBE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A84BD1B5-2660-175B-8B07-04E2903F91FF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3CB4F54-BA71-FE3F-6AAC-431C67C9AE69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9B3C27-C951-DA3D-CE91-3D343028BD80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DAB90FC-65A0-DD85-20B0-F17F8B544B29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6C495315-DA28-1EBA-32F7-88B53D7F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9AE0AF2E-C314-FA2C-40D1-CB4F870350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3982065"/>
            <a:ext cx="41560114" cy="1060801"/>
          </a:xfrm>
        </p:spPr>
        <p:txBody>
          <a:bodyPr/>
          <a:lstStyle/>
          <a:p>
            <a:r>
              <a:rPr lang="en-SG" dirty="0"/>
              <a:t>Software Design</a:t>
            </a: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12DBE309-D302-264F-819A-9E158BD7E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5233364"/>
            <a:ext cx="42748200" cy="2403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2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D2925-B4EF-26C7-6D0F-2B7120AC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42F671E-249B-3C69-2E9F-DD4CD987F177}"/>
              </a:ext>
            </a:extLst>
          </p:cNvPr>
          <p:cNvSpPr/>
          <p:nvPr/>
        </p:nvSpPr>
        <p:spPr>
          <a:xfrm>
            <a:off x="1726101" y="30155745"/>
            <a:ext cx="1074529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Class: DCEP/FT/1B/12</a:t>
            </a:r>
          </a:p>
          <a:p>
            <a:endParaRPr lang="en-SG" sz="3200" dirty="0">
              <a:solidFill>
                <a:schemeClr val="bg1"/>
              </a:solidFill>
            </a:endParaRPr>
          </a:p>
          <a:p>
            <a:r>
              <a:rPr lang="en-SG" sz="3200" dirty="0">
                <a:solidFill>
                  <a:schemeClr val="bg1"/>
                </a:solidFill>
              </a:rPr>
              <a:t>Lecturer: Thian Boon Meng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8F18383-1C3E-CB10-7068-1DF77CC14211}"/>
              </a:ext>
            </a:extLst>
          </p:cNvPr>
          <p:cNvSpPr/>
          <p:nvPr/>
        </p:nvSpPr>
        <p:spPr>
          <a:xfrm>
            <a:off x="12804342" y="30039924"/>
            <a:ext cx="385665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Student members: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44AF22-BFA0-8506-A50F-F42978411D41}"/>
              </a:ext>
            </a:extLst>
          </p:cNvPr>
          <p:cNvSpPr/>
          <p:nvPr/>
        </p:nvSpPr>
        <p:spPr>
          <a:xfrm>
            <a:off x="16993937" y="29963406"/>
            <a:ext cx="166809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3200" dirty="0">
                <a:solidFill>
                  <a:schemeClr val="bg1"/>
                </a:solidFill>
              </a:rPr>
              <a:t>P2401182 Neo June Wai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P2435893 Aung Kaung </a:t>
            </a:r>
            <a:r>
              <a:rPr lang="en-SG" sz="3200" dirty="0" err="1">
                <a:solidFill>
                  <a:schemeClr val="bg1"/>
                </a:solidFill>
              </a:rPr>
              <a:t>Khant</a:t>
            </a:r>
            <a:r>
              <a:rPr lang="en-SG" sz="3200" dirty="0">
                <a:solidFill>
                  <a:schemeClr val="bg1"/>
                </a:solidFill>
              </a:rPr>
              <a:t> (Eddie)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P2421892 Sarah Lim </a:t>
            </a:r>
            <a:r>
              <a:rPr lang="en-SG" sz="3200" dirty="0" err="1">
                <a:solidFill>
                  <a:schemeClr val="bg1"/>
                </a:solidFill>
              </a:rPr>
              <a:t>Shi-Qin</a:t>
            </a:r>
            <a:r>
              <a:rPr lang="en-SG" sz="3200" dirty="0">
                <a:solidFill>
                  <a:schemeClr val="bg1"/>
                </a:solidFill>
              </a:rPr>
              <a:t> </a:t>
            </a:r>
          </a:p>
          <a:p>
            <a:r>
              <a:rPr lang="en-SG" sz="3200" dirty="0">
                <a:solidFill>
                  <a:schemeClr val="bg1"/>
                </a:solidFill>
              </a:rPr>
              <a:t>P2422439 Javen Tang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609DCA0-DE38-F114-7BC8-A68D0196224C}"/>
              </a:ext>
            </a:extLst>
          </p:cNvPr>
          <p:cNvSpPr/>
          <p:nvPr/>
        </p:nvSpPr>
        <p:spPr>
          <a:xfrm>
            <a:off x="584200" y="244332"/>
            <a:ext cx="17018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</a:rPr>
              <a:t>ET1015/ET1024 Introduction to Engineering &amp; Design</a:t>
            </a:r>
            <a:endParaRPr lang="en-SG" sz="4000" dirty="0">
              <a:solidFill>
                <a:schemeClr val="bg1"/>
              </a:solidFill>
            </a:endParaRPr>
          </a:p>
        </p:txBody>
      </p:sp>
      <p:sp>
        <p:nvSpPr>
          <p:cNvPr id="51" name="Title 3">
            <a:extLst>
              <a:ext uri="{FF2B5EF4-FFF2-40B4-BE49-F238E27FC236}">
                <a16:creationId xmlns:a16="http://schemas.microsoft.com/office/drawing/2014/main" id="{37A44708-FAC9-FDDA-8F0F-CBA9A183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646146"/>
            <a:ext cx="38334950" cy="2702792"/>
          </a:xfrm>
        </p:spPr>
        <p:txBody>
          <a:bodyPr>
            <a:noAutofit/>
          </a:bodyPr>
          <a:lstStyle/>
          <a:p>
            <a:r>
              <a:rPr lang="en-US" sz="9600" b="1" dirty="0"/>
              <a:t>Smart Assistive Navigation System for the Visually Impaired</a:t>
            </a:r>
            <a:br>
              <a:rPr lang="en-US" sz="9600" dirty="0"/>
            </a:br>
            <a:endParaRPr lang="en-US" sz="9600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DC19754-5E5C-76A3-7575-894ACD479C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43000" y="3982065"/>
            <a:ext cx="41560114" cy="1060801"/>
          </a:xfrm>
        </p:spPr>
        <p:txBody>
          <a:bodyPr/>
          <a:lstStyle/>
          <a:p>
            <a:r>
              <a:rPr lang="en-SG" dirty="0"/>
              <a:t>ENDING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2E5191E-E27E-7B90-D27C-9DAB98A0A29A}"/>
              </a:ext>
            </a:extLst>
          </p:cNvPr>
          <p:cNvGrpSpPr/>
          <p:nvPr/>
        </p:nvGrpSpPr>
        <p:grpSpPr>
          <a:xfrm>
            <a:off x="1726101" y="6436378"/>
            <a:ext cx="12306300" cy="13952220"/>
            <a:chOff x="14051280" y="8816340"/>
            <a:chExt cx="12306300" cy="139522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F1F4E0-EDD2-A39E-AAA5-8EB163F83479}"/>
                </a:ext>
              </a:extLst>
            </p:cNvPr>
            <p:cNvSpPr/>
            <p:nvPr/>
          </p:nvSpPr>
          <p:spPr>
            <a:xfrm>
              <a:off x="14051280" y="8816340"/>
              <a:ext cx="12306300" cy="13952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6000" dirty="0" err="1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DD4B9E3-12FC-A577-BD97-10BE20449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11300" y="8816340"/>
              <a:ext cx="11986260" cy="12443460"/>
            </a:xfrm>
            <a:prstGeom prst="rect">
              <a:avLst/>
            </a:prstGeom>
          </p:spPr>
        </p:pic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F6ABB60-3777-18EF-2D23-DC0C424834EB}"/>
                </a:ext>
              </a:extLst>
            </p:cNvPr>
            <p:cNvSpPr/>
            <p:nvPr/>
          </p:nvSpPr>
          <p:spPr>
            <a:xfrm>
              <a:off x="14051280" y="21259800"/>
              <a:ext cx="12306300" cy="1508760"/>
            </a:xfrm>
            <a:prstGeom prst="roundRect">
              <a:avLst/>
            </a:prstGeom>
            <a:solidFill>
              <a:srgbClr val="1C44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6000" b="1" dirty="0">
                  <a:latin typeface="Bahnschrift" panose="020B0502040204020203" pitchFamily="34" charset="0"/>
                </a:rPr>
                <a:t>SCAN THIS </a:t>
              </a:r>
              <a:endParaRPr lang="en-GB" sz="6000" b="1" dirty="0" err="1">
                <a:latin typeface="Bahnschrift" panose="020B0502040204020203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32C20F-374C-E373-A68E-E6D8A9863C74}"/>
              </a:ext>
            </a:extLst>
          </p:cNvPr>
          <p:cNvSpPr txBox="1"/>
          <p:nvPr/>
        </p:nvSpPr>
        <p:spPr>
          <a:xfrm>
            <a:off x="15158302" y="6436378"/>
            <a:ext cx="202289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>
                <a:latin typeface="Bahnschrift" panose="020B0502040204020203" pitchFamily="34" charset="0"/>
              </a:rPr>
              <a:t>SCAN THIS TO ACCESS OUR PROJECT REPOSITORY (CODE and others included); if you are interested, of course.</a:t>
            </a:r>
            <a:endParaRPr lang="en-GB" sz="6000" dirty="0" err="1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717063"/>
      </p:ext>
    </p:extLst>
  </p:cSld>
  <p:clrMapOvr>
    <a:masterClrMapping/>
  </p:clrMapOvr>
</p:sld>
</file>

<file path=ppt/theme/theme1.xml><?xml version="1.0" encoding="utf-8"?>
<a:theme xmlns:a="http://schemas.openxmlformats.org/drawingml/2006/main" name="Science Poster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6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A3AC1795-03CA-4218-8E9C-394F2C72EB71}" vid="{9E91E023-53D0-48CE-AFD1-CE3DA49243D0}"/>
    </a:ext>
  </a:extLst>
</a:theme>
</file>

<file path=ppt/theme/theme2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cience Poster">
      <a:dk1>
        <a:srgbClr val="000000"/>
      </a:dk1>
      <a:lt1>
        <a:sysClr val="window" lastClr="FFFFFF"/>
      </a:lt1>
      <a:dk2>
        <a:srgbClr val="1B1B1B"/>
      </a:dk2>
      <a:lt2>
        <a:srgbClr val="E5E8E8"/>
      </a:lt2>
      <a:accent1>
        <a:srgbClr val="00B0EA"/>
      </a:accent1>
      <a:accent2>
        <a:srgbClr val="45AE22"/>
      </a:accent2>
      <a:accent3>
        <a:srgbClr val="FFFF00"/>
      </a:accent3>
      <a:accent4>
        <a:srgbClr val="F2760D"/>
      </a:accent4>
      <a:accent5>
        <a:srgbClr val="BB2B35"/>
      </a:accent5>
      <a:accent6>
        <a:srgbClr val="6C3CA2"/>
      </a:accent6>
      <a:hlink>
        <a:srgbClr val="00B0EA"/>
      </a:hlink>
      <a:folHlink>
        <a:srgbClr val="9696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ad76e-2cc7-49dc-b466-bd2b39c10e6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62F9F87F79034395D6562CBE5FFB9E" ma:contentTypeVersion="10" ma:contentTypeDescription="Create a new document." ma:contentTypeScope="" ma:versionID="47ff77a91c8b02fdf800cb7472340061">
  <xsd:schema xmlns:xsd="http://www.w3.org/2001/XMLSchema" xmlns:xs="http://www.w3.org/2001/XMLSchema" xmlns:p="http://schemas.microsoft.com/office/2006/metadata/properties" xmlns:ns3="8e2ad76e-2cc7-49dc-b466-bd2b39c10e62" targetNamespace="http://schemas.microsoft.com/office/2006/metadata/properties" ma:root="true" ma:fieldsID="ddc6a6d9d05e33f7dcb5ffd5c2d493d2" ns3:_="">
    <xsd:import namespace="8e2ad76e-2cc7-49dc-b466-bd2b39c10e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ad76e-2cc7-49dc-b466-bd2b39c10e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B7B1C2D-C0BB-4140-9369-A6D953FEABC3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8e2ad76e-2cc7-49dc-b466-bd2b39c10e62"/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41571CC-0C2F-4145-9F29-CF3B921B72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A8DC05-437A-4654-9ACF-124AD68451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2ad76e-2cc7-49dc-b466-bd2b39c10e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613</TotalTime>
  <Words>984</Words>
  <Application>Microsoft Office PowerPoint</Application>
  <PresentationFormat>Custom</PresentationFormat>
  <Paragraphs>147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Bahnschrift</vt:lpstr>
      <vt:lpstr>Calibri</vt:lpstr>
      <vt:lpstr>Science Poster</vt:lpstr>
      <vt:lpstr>Smart Assistive Navigation System for the Visually Impaired </vt:lpstr>
      <vt:lpstr>Smart Assistive Navigation System for the Visually Impaired </vt:lpstr>
      <vt:lpstr>Smart Assistive Navigation System for the Visually Impaired </vt:lpstr>
      <vt:lpstr>Smart Assistive Navigation System for the Visually Impaired </vt:lpstr>
      <vt:lpstr>Smart Assistive Navigation System for the Visually Impaired </vt:lpstr>
      <vt:lpstr>Smart Assistive Navigation System for the Visually Impaired </vt:lpstr>
      <vt:lpstr>Smart Assistive Navigation System for the Visually Impaired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Project Title</dc:title>
  <dc:creator>Chew Lin CHIA (SP)</dc:creator>
  <cp:lastModifiedBy>AUNG KAUNG KHANT</cp:lastModifiedBy>
  <cp:revision>43</cp:revision>
  <dcterms:created xsi:type="dcterms:W3CDTF">2013-01-20T21:20:28Z</dcterms:created>
  <dcterms:modified xsi:type="dcterms:W3CDTF">2025-02-12T00:35:12Z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0x0101001462F9F87F79034395D6562CBE5FFB9E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MSIP_Label_4358816f-90be-41b8-babc-1a38499c586d_Enabled">
    <vt:lpwstr>true</vt:lpwstr>
  </property>
  <property fmtid="{D5CDD505-2E9C-101B-9397-08002B2CF9AE}" pid="9" name="MSIP_Label_4358816f-90be-41b8-babc-1a38499c586d_SetDate">
    <vt:lpwstr>2023-01-20T03:14:25Z</vt:lpwstr>
  </property>
  <property fmtid="{D5CDD505-2E9C-101B-9397-08002B2CF9AE}" pid="10" name="MSIP_Label_4358816f-90be-41b8-babc-1a38499c586d_Method">
    <vt:lpwstr>Privileged</vt:lpwstr>
  </property>
  <property fmtid="{D5CDD505-2E9C-101B-9397-08002B2CF9AE}" pid="11" name="MSIP_Label_4358816f-90be-41b8-babc-1a38499c586d_Name">
    <vt:lpwstr>Non-Sensitive</vt:lpwstr>
  </property>
  <property fmtid="{D5CDD505-2E9C-101B-9397-08002B2CF9AE}" pid="12" name="MSIP_Label_4358816f-90be-41b8-babc-1a38499c586d_SiteId">
    <vt:lpwstr>7604ff02-abd8-45db-8cac-550054323fc9</vt:lpwstr>
  </property>
  <property fmtid="{D5CDD505-2E9C-101B-9397-08002B2CF9AE}" pid="13" name="MSIP_Label_4358816f-90be-41b8-babc-1a38499c586d_ActionId">
    <vt:lpwstr>a257003b-bc4e-40ef-826a-df02ba4d99ed</vt:lpwstr>
  </property>
  <property fmtid="{D5CDD505-2E9C-101B-9397-08002B2CF9AE}" pid="14" name="MSIP_Label_4358816f-90be-41b8-babc-1a38499c586d_ContentBits">
    <vt:lpwstr>1</vt:lpwstr>
  </property>
</Properties>
</file>